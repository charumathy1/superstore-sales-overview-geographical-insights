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57400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ANALYTICS REFERENCE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Overview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Geographic Insights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cloud analytics solution built with AWS S3, Glue, Athena, and Power BI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4206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074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Charumathy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04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AF05251183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733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Code: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ANP-D6641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062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– Data and Business Analysis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5440680" cy="3456432"/>
          </a:xfrm>
          <a:prstGeom prst="roundRect">
            <a:avLst>
              <a:gd name="adj" fmla="val 238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Builds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920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cloud-based analytics solution using the Superstore dataset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and management of raw data in Amazon S3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Controlled, role-based access to AWS resources through AWS IAM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schema discovery and cataloging using AWS Glue Crawler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11096"/>
            <a:ext cx="5440680" cy="3767328"/>
          </a:xfrm>
          <a:prstGeom prst="roundRect">
            <a:avLst>
              <a:gd name="adj" fmla="val 218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1305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Delivers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587752"/>
            <a:ext cx="48920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consistent data prepared with Power Query transformations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two-page interactive Power BI dashboard connected to Athena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Sales Overview with KPIs, charts, and profit metrics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Geographic and Customer Insights with maps and rankings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Project Workflow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686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moves through five AWS and Power BI stages to become a live dashboard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3796" y="29718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253996" y="29718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10028" y="29718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0028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110228" y="29718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66260" y="29718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66260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966460" y="29718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22492" y="29718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2492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Athena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822692" y="29718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78724" y="29718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78724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678924" y="29718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934956" y="29718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34956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371600" y="4754880"/>
            <a:ext cx="9445752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45920" y="4974336"/>
            <a:ext cx="88971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→ Access Control → Cataloging → SQL Analysis → Visualization → Business Insight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AWS service hands off clean, structured data to the next stage in the pipeline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 &amp; 2: AWS Setup and S3 Buckets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76856"/>
            <a:ext cx="5440680" cy="3035808"/>
          </a:xfrm>
          <a:prstGeom prst="roundRect">
            <a:avLst>
              <a:gd name="adj" fmla="val 271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963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AWS Console Account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53512"/>
            <a:ext cx="4892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 to the AWS Management Console using account credentials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Multi-Factor Authentication (MFA) for stronger account security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successful sign-in and accessed the Console Dashboard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432304"/>
            <a:ext cx="5440680" cy="2724912"/>
          </a:xfrm>
          <a:prstGeom prst="roundRect">
            <a:avLst>
              <a:gd name="adj" fmla="val 302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651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Create S3 Buckets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3108960"/>
            <a:ext cx="48920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two buckets: charu-etl-source-bucket for raw data and charu-etl-results-bucket for query results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the sample Superstore dataset in CSV format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the dataset into the source bucket inside a dedicated folder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Configure IAM Role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686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AWS Glue secure access to Amazon S3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6766560" cy="3986784"/>
          </a:xfrm>
          <a:prstGeom prst="roundRect">
            <a:avLst>
              <a:gd name="adj" fmla="val 206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208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Setup Process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78024"/>
            <a:ext cx="621792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Navigated to IAM → Roles → Create Role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permissions so the Glue service can access the S3 bucket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AmazonS3FullAccess for bucket access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AWSGlueServiceRole for Glue service access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AdministratorAccess may be used instead during learning and practice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saved the IAM role for use by the Glue Crawler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43800" y="1463040"/>
            <a:ext cx="4069080" cy="4663440"/>
          </a:xfrm>
          <a:prstGeom prst="roundRect">
            <a:avLst>
              <a:gd name="adj" fmla="val 202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Attached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63840" y="2331720"/>
            <a:ext cx="3474720" cy="868680"/>
          </a:xfrm>
          <a:prstGeom prst="roundRect">
            <a:avLst>
              <a:gd name="adj" fmla="val 7368"/>
            </a:avLst>
          </a:prstGeom>
          <a:solidFill>
            <a:srgbClr val="141B47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40487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AmazonS3FullAccess
</a:t>
            </a:r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 — bucket access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63840" y="3429000"/>
            <a:ext cx="3474720" cy="868680"/>
          </a:xfrm>
          <a:prstGeom prst="roundRect">
            <a:avLst>
              <a:gd name="adj" fmla="val 7368"/>
            </a:avLst>
          </a:prstGeom>
          <a:solidFill>
            <a:srgbClr val="141B47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35021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AWSGlueServiceRole
</a:t>
            </a:r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 — Glue service access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AWS Glue — Database and Crawler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32304"/>
            <a:ext cx="5440680" cy="2724912"/>
          </a:xfrm>
          <a:prstGeom prst="roundRect">
            <a:avLst>
              <a:gd name="adj" fmla="val 302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51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 Create Database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48920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AWS Glue → Data Catalog → Databases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new database, superstore-db, to hold catalog metadata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the database and verified it appeared in the Data Catalog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56232"/>
            <a:ext cx="5440680" cy="3877056"/>
          </a:xfrm>
          <a:prstGeom prst="roundRect">
            <a:avLst>
              <a:gd name="adj" fmla="val 212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0756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 Create Crawler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532888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crawler named charu-etl-crawler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S3 data source path to the customer-data folder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it to crawl all sub-folders on every subsequent run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IAM role from Step 3 for secure S3 and catalog access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the crawler to the target database with an on-demand schedule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4.3: Run Crawler and Verify Table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9496" y="169164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2476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2247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20040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crawler manually from the AWS Glue console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74136" y="169164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7116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5711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320040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crawler status until it displayed Completed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169164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1756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9175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91656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20040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 new table was created inside the Glue Data Catalog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43416" y="169164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6396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263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272016" y="320040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that the table schema matched the Superstore dataset structure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Amazon Athena — Create Queries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686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serverless SQL to analyze the cataloged Superstore table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56232"/>
            <a:ext cx="6766560" cy="3877056"/>
          </a:xfrm>
          <a:prstGeom prst="roundRect">
            <a:avLst>
              <a:gd name="adj" fmla="val 212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756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Athena Preparation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32888"/>
            <a:ext cx="6217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Amazon Athena from the AWS Management Console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query result location to the charu-etl-results-bucket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Glue Data Catalog database and table created by the crawler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the S3 query-result location used by Athena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SQL statements for region, category, and sub-category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43800" y="1463040"/>
            <a:ext cx="4069080" cy="4663440"/>
          </a:xfrm>
          <a:prstGeom prst="roundRect">
            <a:avLst>
              <a:gd name="adj" fmla="val 202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Techniques Used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286000"/>
            <a:ext cx="3520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with WHERE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functions: MIN, MAX, AVG, SUM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for region and category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Basic Filtering and Aggregation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686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Queries run against the superstore_dataset table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53512"/>
            <a:ext cx="5440680" cy="1682496"/>
          </a:xfrm>
          <a:prstGeom prst="roundRect">
            <a:avLst>
              <a:gd name="adj" fmla="val 489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72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Queries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301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all records for the Central region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all First Class shipping records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532888"/>
            <a:ext cx="5440680" cy="2523744"/>
          </a:xfrm>
          <a:prstGeom prst="roundRect">
            <a:avLst>
              <a:gd name="adj" fmla="val 326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7523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Queries (Central Region)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09544"/>
            <a:ext cx="4892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the minimum sales value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the maximum sales value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the average sales value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the total (sum) of sales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Grouping and Ranking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686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&amp; 3: Deeper aggregation across regions, categories, and orders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5440680" cy="2523744"/>
          </a:xfrm>
          <a:prstGeom prst="roundRect">
            <a:avLst>
              <a:gd name="adj" fmla="val 326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523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Aggregation &amp; Grouping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9544"/>
            <a:ext cx="4892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total profit for the Central region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total sales by region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total sales by category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total profit by category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7432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9626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 — Counts, Averages &amp; Ranking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419856"/>
            <a:ext cx="4892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orders by region and by ship mode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average sales and average profit by category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products with sales greater than 500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Connect Athena to Power BI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686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cloud SQL results with a desktop BI tool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" y="1920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1920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Simba Athena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ODBC Driver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45536" y="19202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65576" y="1920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65576" y="1920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(DSN)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34456" y="19202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54496" y="1920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4496" y="1920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Region,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&amp; Workgroup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723376" y="192024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043416" y="1920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43416" y="1920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Query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3749040"/>
            <a:ext cx="9445752" cy="2377440"/>
          </a:xfrm>
          <a:prstGeom prst="roundRect">
            <a:avLst>
              <a:gd name="adj" fmla="val 346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968496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Steps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425696"/>
            <a:ext cx="889711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the Simba Amazon Athena ODBC driver on Windows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 Data Source Name (DSN) with the AWS region, catalog, and workgroup details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ODBC connection allows Power BI to query the Athena table directly, without manual exports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Power BI — Visualize and Analyze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32304"/>
            <a:ext cx="5440680" cy="2724912"/>
          </a:xfrm>
          <a:prstGeom prst="roundRect">
            <a:avLst>
              <a:gd name="adj" fmla="val 302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51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&amp; Prepare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48920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Power BI Desktop to Athena via Get Data → ODBC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using the configured DSN and selected the Superstore table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data with Power Query: handled nulls, mixed date formats, and data types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276856"/>
            <a:ext cx="5440680" cy="3035808"/>
          </a:xfrm>
          <a:prstGeom prst="roundRect">
            <a:avLst>
              <a:gd name="adj" fmla="val 271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4963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&amp; Visualize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53512"/>
            <a:ext cx="4892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DAX measures for Total Sales, Total Profit, Profit Margin, and Loss Orders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Profit Margin %, Average Order Value, and Average Quantity per Order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two-page interactive dashboard: Executive Overview and Profitability Analysis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Summary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Data Infrastructure (AWS)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874520"/>
            <a:ext cx="8366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cloud storage for the source bucket (raw data) and results bucket (query results)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0604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606040"/>
            <a:ext cx="8366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Access Management for secure, role-based access control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337560"/>
            <a:ext cx="8366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Crawler, and Table setup for automated schema discovery and cataloging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690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4069080"/>
            <a:ext cx="8366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query execution used to generate the analysis results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10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36752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36752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5367528"/>
            <a:ext cx="8366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via ODBC (Open Database Connectivity) for interactive data visualization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Sales Overview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686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the Power BI report: KPIs, trends, and category performance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32688" y="1600200"/>
            <a:ext cx="10323576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work/dash-000.png">    </p:cNvPr>
          <p:cNvPicPr>
            <a:picLocks noChangeAspect="1"/>
          </p:cNvPicPr>
          <p:nvPr/>
        </p:nvPicPr>
        <p:blipFill>
          <a:blip r:embed="rId1"/>
          <a:srcRect l="-990" r="-990" t="0" b="0"/>
          <a:stretch/>
        </p:blipFill>
        <p:spPr>
          <a:xfrm>
            <a:off x="1115568" y="1737360"/>
            <a:ext cx="9957816" cy="46177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Geographic &amp; Customer Insights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8686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the Power BI report: regional performance and top customers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32688" y="1600200"/>
            <a:ext cx="10323576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work/dash-001.png">    </p:cNvPr>
          <p:cNvPicPr>
            <a:picLocks noChangeAspect="1"/>
          </p:cNvPicPr>
          <p:nvPr/>
        </p:nvPicPr>
        <p:blipFill>
          <a:blip r:embed="rId1"/>
          <a:srcRect l="-990" r="-990" t="0" b="0"/>
          <a:stretch/>
        </p:blipFill>
        <p:spPr>
          <a:xfrm>
            <a:off x="1115568" y="1737360"/>
            <a:ext cx="9957816" cy="46177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2331720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Overview &amp; Geographic Insights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Charumathy   |   AF05251183   |   ANP-D6641   |   DBA – Data and Business 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2026-09-14T18:14:28Z</dcterms:created>
  <dcterms:modified xsi:type="dcterms:W3CDTF">2026-09-14T18:14:28Z</dcterms:modified>
</cp:coreProperties>
</file>